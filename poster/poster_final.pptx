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21599525" cy="3239897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buNone/>
              <a:defRPr sz="1417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70"/>
            </a:lvl1pPr>
            <a:lvl2pPr marL="1080135" indent="0" algn="ctr">
              <a:buNone/>
              <a:defRPr sz="4725"/>
            </a:lvl2pPr>
            <a:lvl3pPr marL="2160270" indent="0" algn="ctr">
              <a:buNone/>
              <a:defRPr sz="4250"/>
            </a:lvl3pPr>
            <a:lvl4pPr marL="3239770" indent="0" algn="ctr">
              <a:buNone/>
              <a:defRPr sz="3780"/>
            </a:lvl4pPr>
            <a:lvl5pPr marL="4319905" indent="0" algn="ctr">
              <a:buNone/>
              <a:defRPr sz="3780"/>
            </a:lvl5pPr>
            <a:lvl6pPr marL="5400040" indent="0" algn="ctr">
              <a:buNone/>
              <a:defRPr sz="3780"/>
            </a:lvl6pPr>
            <a:lvl7pPr marL="6480175" indent="0" algn="ctr">
              <a:buNone/>
              <a:defRPr sz="3780"/>
            </a:lvl7pPr>
            <a:lvl8pPr marL="7559675" indent="0" algn="ctr">
              <a:buNone/>
              <a:defRPr sz="3780"/>
            </a:lvl8pPr>
            <a:lvl9pPr marL="8639810" indent="0" algn="ctr">
              <a:buNone/>
              <a:defRPr sz="378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buNone/>
              <a:defRPr sz="1417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70">
                <a:solidFill>
                  <a:schemeClr val="tx1">
                    <a:tint val="82000"/>
                  </a:schemeClr>
                </a:solidFill>
              </a:defRPr>
            </a:lvl1pPr>
            <a:lvl2pPr marL="1080135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2pPr>
            <a:lvl3pPr marL="2160270" indent="0">
              <a:buNone/>
              <a:defRPr sz="4250">
                <a:solidFill>
                  <a:schemeClr val="tx1">
                    <a:tint val="82000"/>
                  </a:schemeClr>
                </a:solidFill>
              </a:defRPr>
            </a:lvl3pPr>
            <a:lvl4pPr marL="323977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1990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40004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8017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5967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3981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70" b="1"/>
            </a:lvl1pPr>
            <a:lvl2pPr marL="1080135" indent="0">
              <a:buNone/>
              <a:defRPr sz="4725" b="1"/>
            </a:lvl2pPr>
            <a:lvl3pPr marL="2160270" indent="0">
              <a:buNone/>
              <a:defRPr sz="4250" b="1"/>
            </a:lvl3pPr>
            <a:lvl4pPr marL="3239770" indent="0">
              <a:buNone/>
              <a:defRPr sz="3780" b="1"/>
            </a:lvl4pPr>
            <a:lvl5pPr marL="4319905" indent="0">
              <a:buNone/>
              <a:defRPr sz="3780" b="1"/>
            </a:lvl5pPr>
            <a:lvl6pPr marL="5400040" indent="0">
              <a:buNone/>
              <a:defRPr sz="3780" b="1"/>
            </a:lvl6pPr>
            <a:lvl7pPr marL="6480175" indent="0">
              <a:buNone/>
              <a:defRPr sz="3780" b="1"/>
            </a:lvl7pPr>
            <a:lvl8pPr marL="7559675" indent="0">
              <a:buNone/>
              <a:defRPr sz="3780" b="1"/>
            </a:lvl8pPr>
            <a:lvl9pPr marL="8639810" indent="0">
              <a:buNone/>
              <a:defRPr sz="378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70" b="1"/>
            </a:lvl1pPr>
            <a:lvl2pPr marL="1080135" indent="0">
              <a:buNone/>
              <a:defRPr sz="4725" b="1"/>
            </a:lvl2pPr>
            <a:lvl3pPr marL="2160270" indent="0">
              <a:buNone/>
              <a:defRPr sz="4250" b="1"/>
            </a:lvl3pPr>
            <a:lvl4pPr marL="3239770" indent="0">
              <a:buNone/>
              <a:defRPr sz="3780" b="1"/>
            </a:lvl4pPr>
            <a:lvl5pPr marL="4319905" indent="0">
              <a:buNone/>
              <a:defRPr sz="3780" b="1"/>
            </a:lvl5pPr>
            <a:lvl6pPr marL="5400040" indent="0">
              <a:buNone/>
              <a:defRPr sz="3780" b="1"/>
            </a:lvl6pPr>
            <a:lvl7pPr marL="6480175" indent="0">
              <a:buNone/>
              <a:defRPr sz="3780" b="1"/>
            </a:lvl7pPr>
            <a:lvl8pPr marL="7559675" indent="0">
              <a:buNone/>
              <a:defRPr sz="3780" b="1"/>
            </a:lvl8pPr>
            <a:lvl9pPr marL="8639810" indent="0">
              <a:buNone/>
              <a:defRPr sz="378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buNone/>
              <a:defRPr sz="756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buNone/>
              <a:defRPr sz="7560"/>
            </a:lvl1pPr>
            <a:lvl2pPr>
              <a:buNone/>
              <a:defRPr sz="6615"/>
            </a:lvl2pPr>
            <a:lvl3pPr>
              <a:buNone/>
              <a:defRPr sz="5670"/>
            </a:lvl3pPr>
            <a:lvl4pPr>
              <a:buNone/>
              <a:defRPr sz="4725"/>
            </a:lvl4pPr>
            <a:lvl5pPr>
              <a:buNone/>
              <a:defRPr sz="4725"/>
            </a:lvl5pPr>
            <a:lvl6pPr>
              <a:buNone/>
              <a:defRPr sz="4725"/>
            </a:lvl6pPr>
            <a:lvl7pPr>
              <a:buNone/>
              <a:defRPr sz="4725"/>
            </a:lvl7pPr>
            <a:lvl8pPr>
              <a:buNone/>
              <a:defRPr sz="4725"/>
            </a:lvl8pPr>
            <a:lvl9pPr>
              <a:buNone/>
              <a:defRPr sz="4725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80135" indent="0">
              <a:buNone/>
              <a:defRPr sz="3305"/>
            </a:lvl2pPr>
            <a:lvl3pPr marL="2160270" indent="0">
              <a:buNone/>
              <a:defRPr sz="2835"/>
            </a:lvl3pPr>
            <a:lvl4pPr marL="3239770" indent="0">
              <a:buNone/>
              <a:defRPr sz="2360"/>
            </a:lvl4pPr>
            <a:lvl5pPr marL="4319905" indent="0">
              <a:buNone/>
              <a:defRPr sz="2360"/>
            </a:lvl5pPr>
            <a:lvl6pPr marL="5400040" indent="0">
              <a:buNone/>
              <a:defRPr sz="2360"/>
            </a:lvl6pPr>
            <a:lvl7pPr marL="6480175" indent="0">
              <a:buNone/>
              <a:defRPr sz="2360"/>
            </a:lvl7pPr>
            <a:lvl8pPr marL="7559675" indent="0">
              <a:buNone/>
              <a:defRPr sz="2360"/>
            </a:lvl8pPr>
            <a:lvl9pPr marL="8639810" indent="0">
              <a:buNone/>
              <a:defRPr sz="236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buNone/>
              <a:defRPr sz="756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60"/>
            </a:lvl1pPr>
            <a:lvl2pPr marL="1080135" indent="0">
              <a:buNone/>
              <a:defRPr sz="6615"/>
            </a:lvl2pPr>
            <a:lvl3pPr marL="2160270" indent="0">
              <a:buNone/>
              <a:defRPr sz="5670"/>
            </a:lvl3pPr>
            <a:lvl4pPr marL="3239770" indent="0">
              <a:buNone/>
              <a:defRPr sz="4725"/>
            </a:lvl4pPr>
            <a:lvl5pPr marL="4319905" indent="0">
              <a:buNone/>
              <a:defRPr sz="4725"/>
            </a:lvl5pPr>
            <a:lvl6pPr marL="5400040" indent="0">
              <a:buNone/>
              <a:defRPr sz="4725"/>
            </a:lvl6pPr>
            <a:lvl7pPr marL="6480175" indent="0">
              <a:buNone/>
              <a:defRPr sz="4725"/>
            </a:lvl7pPr>
            <a:lvl8pPr marL="7559675" indent="0">
              <a:buNone/>
              <a:defRPr sz="4725"/>
            </a:lvl8pPr>
            <a:lvl9pPr marL="8639810" indent="0">
              <a:buNone/>
              <a:defRPr sz="4725"/>
            </a:lvl9pPr>
          </a:lstStyle>
          <a:p>
            <a:r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80135" indent="0">
              <a:buNone/>
              <a:defRPr sz="3305"/>
            </a:lvl2pPr>
            <a:lvl3pPr marL="2160270" indent="0">
              <a:buNone/>
              <a:defRPr sz="2835"/>
            </a:lvl3pPr>
            <a:lvl4pPr marL="3239770" indent="0">
              <a:buNone/>
              <a:defRPr sz="2360"/>
            </a:lvl4pPr>
            <a:lvl5pPr marL="4319905" indent="0">
              <a:buNone/>
              <a:defRPr sz="2360"/>
            </a:lvl5pPr>
            <a:lvl6pPr marL="5400040" indent="0">
              <a:buNone/>
              <a:defRPr sz="2360"/>
            </a:lvl6pPr>
            <a:lvl7pPr marL="6480175" indent="0">
              <a:buNone/>
              <a:defRPr sz="2360"/>
            </a:lvl7pPr>
            <a:lvl8pPr marL="7559675" indent="0">
              <a:buNone/>
              <a:defRPr sz="2360"/>
            </a:lvl8pPr>
            <a:lvl9pPr marL="8639810" indent="0">
              <a:buNone/>
              <a:defRPr sz="236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BDA55F-8BAA-6347-BE02-3806C2C7011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7CDBC-6DDD-8E4B-B291-75E1164FEC08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DA55F-8BAA-6347-BE02-3806C2C701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buNone/>
        <a:defRPr sz="10395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539750" indent="-539750" algn="l">
        <a:lnSpc>
          <a:spcPct val="90000"/>
        </a:lnSpc>
        <a:spcBef>
          <a:spcPts val="2360"/>
        </a:spcBef>
        <a:buChar char="•"/>
        <a:defRPr sz="6615">
          <a:solidFill>
            <a:schemeClr val="tx1"/>
          </a:solidFill>
          <a:latin typeface="+mn-lt"/>
          <a:ea typeface="+mn-lt"/>
          <a:cs typeface="+mn-lt"/>
        </a:defRPr>
      </a:lvl1pPr>
      <a:lvl2pPr marL="1619885" indent="-539750" algn="l">
        <a:lnSpc>
          <a:spcPct val="90000"/>
        </a:lnSpc>
        <a:spcBef>
          <a:spcPts val="1180"/>
        </a:spcBef>
        <a:buChar char="•"/>
        <a:defRPr sz="5670">
          <a:solidFill>
            <a:schemeClr val="tx1"/>
          </a:solidFill>
          <a:latin typeface="+mn-lt"/>
          <a:ea typeface="+mn-lt"/>
          <a:cs typeface="+mn-lt"/>
        </a:defRPr>
      </a:lvl2pPr>
      <a:lvl3pPr marL="2700020" indent="-539750" algn="l">
        <a:lnSpc>
          <a:spcPct val="90000"/>
        </a:lnSpc>
        <a:spcBef>
          <a:spcPts val="1180"/>
        </a:spcBef>
        <a:buChar char="•"/>
        <a:defRPr sz="4725">
          <a:solidFill>
            <a:schemeClr val="tx1"/>
          </a:solidFill>
          <a:latin typeface="+mn-lt"/>
          <a:ea typeface="+mn-lt"/>
          <a:cs typeface="+mn-lt"/>
        </a:defRPr>
      </a:lvl3pPr>
      <a:lvl4pPr marL="3780155" indent="-539750" algn="l">
        <a:lnSpc>
          <a:spcPct val="90000"/>
        </a:lnSpc>
        <a:spcBef>
          <a:spcPts val="1180"/>
        </a:spcBef>
        <a:buChar char="•"/>
        <a:defRPr sz="4250">
          <a:solidFill>
            <a:schemeClr val="tx1"/>
          </a:solidFill>
          <a:latin typeface="+mn-lt"/>
          <a:ea typeface="+mn-lt"/>
          <a:cs typeface="+mn-lt"/>
        </a:defRPr>
      </a:lvl4pPr>
      <a:lvl5pPr marL="4860290" indent="-539750" algn="l">
        <a:lnSpc>
          <a:spcPct val="90000"/>
        </a:lnSpc>
        <a:spcBef>
          <a:spcPts val="1180"/>
        </a:spcBef>
        <a:buChar char="•"/>
        <a:defRPr sz="4250">
          <a:solidFill>
            <a:schemeClr val="tx1"/>
          </a:solidFill>
          <a:latin typeface="+mn-lt"/>
          <a:ea typeface="+mn-lt"/>
          <a:cs typeface="+mn-lt"/>
        </a:defRPr>
      </a:lvl5pPr>
      <a:lvl6pPr marL="5939790" indent="-539750" algn="l">
        <a:lnSpc>
          <a:spcPct val="90000"/>
        </a:lnSpc>
        <a:spcBef>
          <a:spcPts val="1180"/>
        </a:spcBef>
        <a:buChar char="•"/>
        <a:defRPr sz="4250">
          <a:solidFill>
            <a:schemeClr val="tx1"/>
          </a:solidFill>
          <a:latin typeface="+mn-lt"/>
          <a:ea typeface="+mn-lt"/>
          <a:cs typeface="+mn-lt"/>
        </a:defRPr>
      </a:lvl6pPr>
      <a:lvl7pPr marL="7019925" indent="-539750" algn="l">
        <a:lnSpc>
          <a:spcPct val="90000"/>
        </a:lnSpc>
        <a:spcBef>
          <a:spcPts val="1180"/>
        </a:spcBef>
        <a:buChar char="•"/>
        <a:defRPr sz="4250">
          <a:solidFill>
            <a:schemeClr val="tx1"/>
          </a:solidFill>
          <a:latin typeface="+mn-lt"/>
          <a:ea typeface="+mn-lt"/>
          <a:cs typeface="+mn-lt"/>
        </a:defRPr>
      </a:lvl7pPr>
      <a:lvl8pPr marL="8100060" indent="-539750" algn="l">
        <a:lnSpc>
          <a:spcPct val="90000"/>
        </a:lnSpc>
        <a:spcBef>
          <a:spcPts val="1180"/>
        </a:spcBef>
        <a:buChar char="•"/>
        <a:defRPr sz="4250">
          <a:solidFill>
            <a:schemeClr val="tx1"/>
          </a:solidFill>
          <a:latin typeface="+mn-lt"/>
          <a:ea typeface="+mn-lt"/>
          <a:cs typeface="+mn-lt"/>
        </a:defRPr>
      </a:lvl8pPr>
      <a:lvl9pPr marL="9180195" indent="-539750" algn="l">
        <a:lnSpc>
          <a:spcPct val="90000"/>
        </a:lnSpc>
        <a:spcBef>
          <a:spcPts val="1180"/>
        </a:spcBef>
        <a:buChar char="•"/>
        <a:defRPr sz="42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1pPr>
      <a:lvl2pPr marL="1080135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2pPr>
      <a:lvl3pPr marL="2160270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3pPr>
      <a:lvl4pPr marL="3239770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4pPr>
      <a:lvl5pPr marL="4319905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5pPr>
      <a:lvl6pPr marL="5400040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6pPr>
      <a:lvl7pPr marL="6480175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7pPr>
      <a:lvl8pPr marL="7559675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8pPr>
      <a:lvl9pPr marL="8639810" algn="l">
        <a:buNone/>
        <a:defRPr sz="42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Neutral body"/>
          <p:cNvSpPr/>
          <p:nvPr/>
        </p:nvSpPr>
        <p:spPr>
          <a:xfrm>
            <a:off x="0" y="5907024"/>
            <a:ext cx="21599525" cy="2388412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oster title"/>
          <p:cNvSpPr txBox="1"/>
          <p:nvPr/>
        </p:nvSpPr>
        <p:spPr>
          <a:xfrm>
            <a:off x="841248" y="1609344"/>
            <a:ext cx="19915632" cy="2578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5100" b="1">
                <a:solidFill>
                  <a:srgbClr val="FFFFFF"/>
                </a:solidFill>
                <a:latin typeface="Arial"/>
              </a:rPr>
              <a:t>Exploring Useful Predictive Representations for Streaming RL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5100" b="1">
                <a:solidFill>
                  <a:srgbClr val="FFFFFF"/>
                </a:solidFill>
                <a:latin typeface="Arial"/>
              </a:rPr>
              <a:t>under Partial Observability and Non-Stationarity</a:t>
            </a:r>
          </a:p>
        </p:txBody>
      </p:sp>
      <p:sp>
        <p:nvSpPr>
          <p:cNvPr id="4" name="Authors"/>
          <p:cNvSpPr txBox="1"/>
          <p:nvPr/>
        </p:nvSpPr>
        <p:spPr>
          <a:xfrm>
            <a:off x="1097280" y="4407408"/>
            <a:ext cx="19403568" cy="60350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100" b="0">
                <a:solidFill>
                  <a:srgbClr val="FFFFFF"/>
                </a:solidFill>
                <a:latin typeface="Arial"/>
              </a:rPr>
              <a:t>Mingzhu Li   ·   Xinwei Song   ·   Yuqi Wei   ·   Peng Yu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181344"/>
            <a:ext cx="2926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40" b="1">
                <a:solidFill>
                  <a:srgbClr val="3E718F"/>
                </a:solidFill>
                <a:latin typeface="Arial"/>
              </a:rPr>
              <a:t>PROBLEM STATEMENT</a:t>
            </a:r>
          </a:p>
        </p:txBody>
      </p:sp>
      <p:sp>
        <p:nvSpPr>
          <p:cNvPr id="6" name="Core question"/>
          <p:cNvSpPr txBox="1"/>
          <p:nvPr/>
        </p:nvSpPr>
        <p:spPr>
          <a:xfrm>
            <a:off x="841248" y="6547104"/>
            <a:ext cx="19915632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Arial"/>
              </a:rPr>
              <a:t>When does predictive knowledge become a useful state representation for replay-free streaming control?</a:t>
            </a:r>
          </a:p>
        </p:txBody>
      </p:sp>
      <p:sp>
        <p:nvSpPr>
          <p:cNvPr id="7" name="Core hypothesis"/>
          <p:cNvSpPr txBox="1"/>
          <p:nvPr/>
        </p:nvSpPr>
        <p:spPr>
          <a:xfrm>
            <a:off x="841248" y="7287768"/>
            <a:ext cx="19915632" cy="7132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700" b="0">
                <a:solidFill>
                  <a:srgbClr val="5C6A72"/>
                </a:solidFill>
                <a:latin typeface="Arial"/>
              </a:rPr>
              <a:t>We test a three-stage bottleneck: useful predictive state must preserve action-relevant distinctions, expose them to the learner, and remain compact and complementary under drift.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8238744"/>
            <a:ext cx="19915632" cy="32004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lumn divider"/>
          <p:cNvSpPr/>
          <p:nvPr/>
        </p:nvSpPr>
        <p:spPr>
          <a:xfrm>
            <a:off x="9345168" y="8540496"/>
            <a:ext cx="21945" cy="18854928"/>
          </a:xfrm>
          <a:prstGeom prst="rect">
            <a:avLst/>
          </a:prstGeom>
          <a:solidFill>
            <a:srgbClr val="E4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8540496"/>
            <a:ext cx="81564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40" b="1">
                <a:solidFill>
                  <a:srgbClr val="3E718F"/>
                </a:solidFill>
                <a:latin typeface="Arial"/>
              </a:rPr>
              <a:t>WHY THIS PROBLEM?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8887968"/>
            <a:ext cx="8156448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17324D"/>
                </a:solidFill>
                <a:latin typeface="Arial"/>
              </a:rPr>
              <a:t>Accurate prediction ≠ useful control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9454896"/>
            <a:ext cx="8156448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60" b="0">
                <a:solidFill>
                  <a:srgbClr val="27343C"/>
                </a:solidFill>
                <a:latin typeface="Arial"/>
              </a:rPr>
              <a:t>The Alberta Plan proposes predictions as agent state. In a partially observable Markov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60" b="0">
                <a:solidFill>
                  <a:srgbClr val="27343C"/>
                </a:solidFill>
                <a:latin typeface="Arial"/>
              </a:rPr>
              <a:t>decision process (POMDP), retained hidden information may still be unusable by the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60" b="0">
                <a:solidFill>
                  <a:srgbClr val="27343C"/>
                </a:solidFill>
                <a:latin typeface="Arial"/>
              </a:rPr>
              <a:t>online controller. We therefore separate three failure modes—preservation,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60" b="0">
                <a:solidFill>
                  <a:srgbClr val="27343C"/>
                </a:solidFill>
                <a:latin typeface="Arial"/>
              </a:rPr>
              <a:t>accessibility, and adaptation under drift—rather than rank predictions alone.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0698480"/>
            <a:ext cx="21488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3E718F"/>
                </a:solidFill>
                <a:latin typeface="Arial"/>
              </a:rPr>
              <a:t>PRESERVE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027663"/>
            <a:ext cx="214884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420" b="0">
                <a:solidFill>
                  <a:srgbClr val="27343C"/>
                </a:solidFill>
                <a:latin typeface="Arial"/>
              </a:rPr>
              <a:t>retain the hidden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420" b="0">
                <a:solidFill>
                  <a:srgbClr val="27343C"/>
                </a:solidFill>
                <a:latin typeface="Arial"/>
              </a:rPr>
              <a:t>action distinction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10698480"/>
            <a:ext cx="21488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94652F"/>
                </a:solidFill>
                <a:latin typeface="Arial"/>
              </a:rPr>
              <a:t>EXPOSE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1027663"/>
            <a:ext cx="214884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420" b="0">
                <a:solidFill>
                  <a:srgbClr val="27343C"/>
                </a:solidFill>
                <a:latin typeface="Arial"/>
              </a:rPr>
              <a:t>make it learnable by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420" b="0">
                <a:solidFill>
                  <a:srgbClr val="27343C"/>
                </a:solidFill>
                <a:latin typeface="Arial"/>
              </a:rPr>
              <a:t>the online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10698480"/>
            <a:ext cx="21488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477F6B"/>
                </a:solidFill>
                <a:latin typeface="Arial"/>
              </a:rPr>
              <a:t>ADAPT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11027663"/>
            <a:ext cx="214884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420" b="0">
                <a:solidFill>
                  <a:srgbClr val="27343C"/>
                </a:solidFill>
                <a:latin typeface="Arial"/>
              </a:rPr>
              <a:t>keep a compact basis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420" b="0">
                <a:solidFill>
                  <a:srgbClr val="27343C"/>
                </a:solidFill>
                <a:latin typeface="Arial"/>
              </a:rPr>
              <a:t>as the world drifts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1256" y="10917936"/>
            <a:ext cx="329184" cy="4023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F7D84"/>
                </a:solidFill>
                <a:latin typeface="Arial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2744" y="10917936"/>
            <a:ext cx="329184" cy="4023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F7D84"/>
                </a:solidFill>
                <a:latin typeface="Arial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11722608"/>
            <a:ext cx="8156448" cy="22860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11960352"/>
            <a:ext cx="81564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40" b="1">
                <a:solidFill>
                  <a:srgbClr val="477F6B"/>
                </a:solidFill>
                <a:latin typeface="Arial"/>
              </a:rPr>
              <a:t>RUNNING 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12298680"/>
            <a:ext cx="8156448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50" b="1">
                <a:solidFill>
                  <a:srgbClr val="17324D"/>
                </a:solidFill>
                <a:latin typeface="Arial"/>
              </a:rPr>
              <a:t>Continuing delayed-cue T-maze</a:t>
            </a:r>
          </a:p>
        </p:txBody>
      </p:sp>
      <p:sp>
        <p:nvSpPr>
          <p:cNvPr id="24" name="T-maze cue"/>
          <p:cNvSpPr/>
          <p:nvPr/>
        </p:nvSpPr>
        <p:spPr>
          <a:xfrm>
            <a:off x="914400" y="13085064"/>
            <a:ext cx="914400" cy="548640"/>
          </a:xfrm>
          <a:prstGeom prst="rect">
            <a:avLst/>
          </a:prstGeom>
          <a:solidFill>
            <a:srgbClr val="ECF2F5"/>
          </a:solidFill>
          <a:ln w="11430">
            <a:solidFill>
              <a:srgbClr val="3E7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3E718F"/>
                </a:solidFill>
                <a:latin typeface="Arial"/>
              </a:rPr>
              <a:t>cue L/R</a:t>
            </a:r>
          </a:p>
        </p:txBody>
      </p:sp>
      <p:sp>
        <p:nvSpPr>
          <p:cNvPr id="25" name="Aliased cell 1"/>
          <p:cNvSpPr/>
          <p:nvPr/>
        </p:nvSpPr>
        <p:spPr>
          <a:xfrm>
            <a:off x="2029967" y="13085064"/>
            <a:ext cx="457200" cy="548640"/>
          </a:xfrm>
          <a:prstGeom prst="rect">
            <a:avLst/>
          </a:prstGeom>
          <a:solidFill>
            <a:srgbClr val="F7F8F8"/>
          </a:solidFill>
          <a:ln w="8255">
            <a:solidFill>
              <a:srgbClr val="BAC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6F7D84"/>
                </a:solidFill>
                <a:latin typeface="Arial"/>
              </a:rPr>
              <a:t>?</a:t>
            </a:r>
          </a:p>
        </p:txBody>
      </p:sp>
      <p:sp>
        <p:nvSpPr>
          <p:cNvPr id="26" name="Aliased cell 2"/>
          <p:cNvSpPr/>
          <p:nvPr/>
        </p:nvSpPr>
        <p:spPr>
          <a:xfrm>
            <a:off x="2587751" y="13085064"/>
            <a:ext cx="457200" cy="548640"/>
          </a:xfrm>
          <a:prstGeom prst="rect">
            <a:avLst/>
          </a:prstGeom>
          <a:solidFill>
            <a:srgbClr val="F7F8F8"/>
          </a:solidFill>
          <a:ln w="8255">
            <a:solidFill>
              <a:srgbClr val="BAC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6F7D84"/>
                </a:solidFill>
                <a:latin typeface="Arial"/>
              </a:rPr>
              <a:t>?</a:t>
            </a:r>
          </a:p>
        </p:txBody>
      </p:sp>
      <p:sp>
        <p:nvSpPr>
          <p:cNvPr id="27" name="Aliased cell 3"/>
          <p:cNvSpPr/>
          <p:nvPr/>
        </p:nvSpPr>
        <p:spPr>
          <a:xfrm>
            <a:off x="3145535" y="13085064"/>
            <a:ext cx="457200" cy="548640"/>
          </a:xfrm>
          <a:prstGeom prst="rect">
            <a:avLst/>
          </a:prstGeom>
          <a:solidFill>
            <a:srgbClr val="F7F8F8"/>
          </a:solidFill>
          <a:ln w="8255">
            <a:solidFill>
              <a:srgbClr val="BAC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6F7D84"/>
                </a:solidFill>
                <a:latin typeface="Arial"/>
              </a:rPr>
              <a:t>?</a:t>
            </a:r>
          </a:p>
        </p:txBody>
      </p:sp>
      <p:sp>
        <p:nvSpPr>
          <p:cNvPr id="28" name="Aliased cell 4"/>
          <p:cNvSpPr/>
          <p:nvPr/>
        </p:nvSpPr>
        <p:spPr>
          <a:xfrm>
            <a:off x="3703320" y="13085064"/>
            <a:ext cx="457200" cy="548640"/>
          </a:xfrm>
          <a:prstGeom prst="rect">
            <a:avLst/>
          </a:prstGeom>
          <a:solidFill>
            <a:srgbClr val="F7F8F8"/>
          </a:solidFill>
          <a:ln w="8255">
            <a:solidFill>
              <a:srgbClr val="BAC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6F7D84"/>
                </a:solidFill>
                <a:latin typeface="Arial"/>
              </a:rPr>
              <a:t>?</a:t>
            </a:r>
          </a:p>
        </p:txBody>
      </p:sp>
      <p:sp>
        <p:nvSpPr>
          <p:cNvPr id="29" name="Aliased cell 5"/>
          <p:cNvSpPr/>
          <p:nvPr/>
        </p:nvSpPr>
        <p:spPr>
          <a:xfrm>
            <a:off x="4261104" y="13085064"/>
            <a:ext cx="457200" cy="548640"/>
          </a:xfrm>
          <a:prstGeom prst="rect">
            <a:avLst/>
          </a:prstGeom>
          <a:solidFill>
            <a:srgbClr val="F7F8F8"/>
          </a:solidFill>
          <a:ln w="8255">
            <a:solidFill>
              <a:srgbClr val="BAC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6F7D84"/>
                </a:solidFill>
                <a:latin typeface="Arial"/>
              </a:rPr>
              <a:t>?</a:t>
            </a:r>
          </a:p>
        </p:txBody>
      </p:sp>
      <p:sp>
        <p:nvSpPr>
          <p:cNvPr id="30" name="T-maze junction"/>
          <p:cNvSpPr/>
          <p:nvPr/>
        </p:nvSpPr>
        <p:spPr>
          <a:xfrm>
            <a:off x="4846320" y="13085064"/>
            <a:ext cx="512064" cy="548640"/>
          </a:xfrm>
          <a:prstGeom prst="rect">
            <a:avLst/>
          </a:prstGeom>
          <a:solidFill>
            <a:srgbClr val="EDF4F1"/>
          </a:solidFill>
          <a:ln w="11430">
            <a:solidFill>
              <a:srgbClr val="477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477F6B"/>
                </a:solidFill>
                <a:latin typeface="Arial"/>
              </a:rPr>
              <a:t>J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93208" y="12774168"/>
            <a:ext cx="22860" cy="310896"/>
          </a:xfrm>
          <a:prstGeom prst="rect">
            <a:avLst/>
          </a:prstGeom>
          <a:solidFill>
            <a:srgbClr val="477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93208" y="13651992"/>
            <a:ext cx="22860" cy="228600"/>
          </a:xfrm>
          <a:prstGeom prst="rect">
            <a:avLst/>
          </a:prstGeom>
          <a:solidFill>
            <a:srgbClr val="477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9824" y="12746736"/>
            <a:ext cx="65836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477F6B"/>
                </a:solidFill>
                <a:latin typeface="Arial"/>
              </a:rPr>
              <a:t>turn 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9824" y="13670280"/>
            <a:ext cx="658368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477F6B"/>
                </a:solidFill>
                <a:latin typeface="Arial"/>
              </a:rPr>
              <a:t>turn 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9967" y="13651992"/>
            <a:ext cx="269748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5C6A72"/>
                </a:solidFill>
                <a:latin typeface="Arial"/>
              </a:rPr>
              <a:t>aliased corridor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12792456"/>
            <a:ext cx="2487168" cy="10789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450" b="0">
                <a:solidFill>
                  <a:srgbClr val="27343C"/>
                </a:solidFill>
                <a:latin typeface="Arial"/>
              </a:rPr>
              <a:t>Cue appears once.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450" b="0">
                <a:solidFill>
                  <a:srgbClr val="27343C"/>
                </a:solidFill>
                <a:latin typeface="Arial"/>
              </a:rPr>
              <a:t>Corridor observations repeat.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450" b="0">
                <a:solidFill>
                  <a:srgbClr val="27343C"/>
                </a:solidFill>
                <a:latin typeface="Arial"/>
              </a:rPr>
              <a:t>The junction requires the past cue.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3944600"/>
            <a:ext cx="8010144" cy="4846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330" b="0">
                <a:solidFill>
                  <a:srgbClr val="5C6A72"/>
                </a:solidFill>
                <a:latin typeface="Arial"/>
              </a:rPr>
              <a:t>RL task: cue → aliased corridor → junction turn; correct / incorrect feedback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330" b="0">
                <a:solidFill>
                  <a:srgbClr val="5C6A72"/>
                </a:solidFill>
                <a:latin typeface="Arial"/>
              </a:rPr>
              <a:t>Goal: continuing accuracy · Drift: cue corruption · distractors · timing · remapping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" y="14456664"/>
            <a:ext cx="8156448" cy="22860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14694408"/>
            <a:ext cx="81564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40" b="1">
                <a:solidFill>
                  <a:srgbClr val="3E718F"/>
                </a:solidFill>
                <a:latin typeface="Arial"/>
              </a:rPr>
              <a:t>HOW WE TEST THE CLAIM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15023592"/>
            <a:ext cx="8156448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7324D"/>
                </a:solidFill>
                <a:latin typeface="Arial"/>
              </a:rPr>
              <a:t>xₜ = [ oₜ , f(gₜ) , 1 ]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15471648"/>
            <a:ext cx="8156448" cy="521207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340" b="0">
                <a:solidFill>
                  <a:srgbClr val="5C6A72"/>
                </a:solidFill>
                <a:latin typeface="Arial"/>
              </a:rPr>
              <a:t>gₜ: learned forecasts from general value functions (GVFs)—cue, timing, regime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340" b="0">
                <a:solidFill>
                  <a:srgbClr val="5C6A72"/>
                </a:solidFill>
                <a:latin typeface="Arial"/>
              </a:rPr>
              <a:t>f: identity, residual random Fourier features (RFF), tile coding, or bank interface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16066008"/>
            <a:ext cx="56692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3E718F"/>
                </a:solidFill>
                <a:latin typeface="Arial"/>
              </a:rPr>
              <a:t>RQ1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81328" y="16047720"/>
            <a:ext cx="751636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>
                <a:solidFill>
                  <a:srgbClr val="17324D"/>
                </a:solidFill>
                <a:latin typeface="Arial"/>
              </a:rPr>
              <a:t>Representation geometry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1328" y="16459200"/>
            <a:ext cx="7479792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520" b="0">
                <a:solidFill>
                  <a:srgbClr val="27343C"/>
                </a:solidFill>
                <a:latin typeface="Arial"/>
              </a:rPr>
              <a:t>4 POMDPs · 10 conditions · 3 seeds; compare transforms within environment.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520" b="0">
                <a:solidFill>
                  <a:srgbClr val="27343C"/>
                </a:solidFill>
                <a:latin typeface="Arial"/>
              </a:rPr>
              <a:t>Accuracy and reward differ across tasks, so results are never pooled.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" y="17181576"/>
            <a:ext cx="8156448" cy="22860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17428464"/>
            <a:ext cx="56692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94652F"/>
                </a:solidFill>
                <a:latin typeface="Arial"/>
              </a:rPr>
              <a:t>RQ2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81328" y="17410176"/>
            <a:ext cx="751636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>
                <a:solidFill>
                  <a:srgbClr val="17324D"/>
                </a:solidFill>
                <a:latin typeface="Arial"/>
              </a:rPr>
              <a:t>Control accessibility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81328" y="17821656"/>
            <a:ext cx="7479792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520" b="0">
                <a:solidFill>
                  <a:srgbClr val="27343C"/>
                </a:solidFill>
                <a:latin typeface="Arial"/>
              </a:rPr>
              <a:t>Trace-only T-maze · 10 paired seeds; hold gₜ and the learner fixed,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520" b="0">
                <a:solidFill>
                  <a:srgbClr val="27343C"/>
                </a:solidFill>
                <a:latin typeface="Arial"/>
              </a:rPr>
              <a:t>then vary only the controller adapter: identity, RFF, or tile coding.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" y="18544031"/>
            <a:ext cx="8156448" cy="22860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18790920"/>
            <a:ext cx="56692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477F6B"/>
                </a:solidFill>
                <a:latin typeface="Arial"/>
              </a:rPr>
              <a:t>RQ3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81328" y="18772632"/>
            <a:ext cx="751636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>
                <a:solidFill>
                  <a:srgbClr val="17324D"/>
                </a:solidFill>
                <a:latin typeface="Arial"/>
              </a:rPr>
              <a:t>Bank structure under drift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81328" y="19184112"/>
            <a:ext cx="7479792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520" b="0">
                <a:solidFill>
                  <a:srgbClr val="27343C"/>
                </a:solidFill>
                <a:latin typeface="Arial"/>
              </a:rPr>
              <a:t>Big-world T-maze · 4 seeds; vary bank k, diversity, and novelty,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520" b="0">
                <a:solidFill>
                  <a:srgbClr val="27343C"/>
                </a:solidFill>
                <a:latin typeface="Arial"/>
              </a:rPr>
              <a:t>then compare against raw observations and a single cue-GVF baseline.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" y="19906488"/>
            <a:ext cx="8156448" cy="22860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20263104"/>
            <a:ext cx="81564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40" b="1">
                <a:solidFill>
                  <a:srgbClr val="477F6B"/>
                </a:solidFill>
                <a:latin typeface="Arial"/>
              </a:rPr>
              <a:t>ONLINE GVF BANK UNDER DRIFT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20610576"/>
            <a:ext cx="815644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20" b="1">
                <a:solidFill>
                  <a:srgbClr val="17324D"/>
                </a:solidFill>
                <a:latin typeface="Arial"/>
              </a:rPr>
              <a:t>A compact predictive division of labor, updated online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7824" y="21086064"/>
            <a:ext cx="2401824" cy="32004"/>
          </a:xfrm>
          <a:prstGeom prst="rect">
            <a:avLst/>
          </a:prstGeom>
          <a:solidFill>
            <a:srgbClr val="3E7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7824" y="21204935"/>
            <a:ext cx="2401824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80" b="1">
                <a:solidFill>
                  <a:srgbClr val="3E718F"/>
                </a:solidFill>
                <a:latin typeface="Arial"/>
              </a:rPr>
              <a:t>1  GENERATE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" y="21534119"/>
            <a:ext cx="2401824" cy="8046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1380" b="0">
                <a:solidFill>
                  <a:srgbClr val="27343C"/>
                </a:solidFill>
                <a:latin typeface="Arial"/>
              </a:rPr>
              <a:t>memory · timing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1380" b="0">
                <a:solidFill>
                  <a:srgbClr val="27343C"/>
                </a:solidFill>
                <a:latin typeface="Arial"/>
              </a:rPr>
              <a:t>control · regime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1380" b="0">
                <a:solidFill>
                  <a:srgbClr val="27343C"/>
                </a:solidFill>
                <a:latin typeface="Arial"/>
              </a:rPr>
              <a:t>+ sparse mixtures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5367" y="21588984"/>
            <a:ext cx="347472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F7D84"/>
                </a:solidFill>
                <a:latin typeface="Arial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18560" y="21086064"/>
            <a:ext cx="2401824" cy="32004"/>
          </a:xfrm>
          <a:prstGeom prst="rect">
            <a:avLst/>
          </a:prstGeom>
          <a:solidFill>
            <a:srgbClr val="946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18560" y="21204935"/>
            <a:ext cx="2401824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80" b="1">
                <a:solidFill>
                  <a:srgbClr val="94652F"/>
                </a:solidFill>
                <a:latin typeface="Arial"/>
              </a:rPr>
              <a:t>2  SCORE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18560" y="21534119"/>
            <a:ext cx="2401824" cy="8046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1380" b="0">
                <a:solidFill>
                  <a:srgbClr val="27343C"/>
                </a:solidFill>
                <a:latin typeface="Arial"/>
              </a:rPr>
              <a:t>decision / decode gains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1380" b="0">
                <a:solidFill>
                  <a:srgbClr val="27343C"/>
                </a:solidFill>
                <a:latin typeface="Arial"/>
              </a:rPr>
              <a:t>+ uncertainty reduction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1380" b="0">
                <a:solidFill>
                  <a:srgbClr val="27343C"/>
                </a:solidFill>
                <a:latin typeface="Arial"/>
              </a:rPr>
              <a:t>− TD error / redundancy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66104" y="21588984"/>
            <a:ext cx="347472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F7D84"/>
                </a:solidFill>
                <a:latin typeface="Arial"/>
              </a:rPr>
              <a:t>→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59296" y="21086064"/>
            <a:ext cx="2401824" cy="32004"/>
          </a:xfrm>
          <a:prstGeom prst="rect">
            <a:avLst/>
          </a:prstGeom>
          <a:solidFill>
            <a:srgbClr val="477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59296" y="21204935"/>
            <a:ext cx="2401824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80" b="1">
                <a:solidFill>
                  <a:srgbClr val="477F6B"/>
                </a:solidFill>
                <a:latin typeface="Arial"/>
              </a:rPr>
              <a:t>3  RETAIN + EXPOSE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59296" y="21534119"/>
            <a:ext cx="2401824" cy="8046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1380" b="0">
                <a:solidFill>
                  <a:srgbClr val="27343C"/>
                </a:solidFill>
                <a:latin typeface="Arial"/>
              </a:rPr>
              <a:t>keep k complementary GVFs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1380" b="0">
                <a:solidFill>
                  <a:srgbClr val="27343C"/>
                </a:solidFill>
                <a:latin typeface="Arial"/>
              </a:rPr>
              <a:t>[oₜ, bank, 1]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1380" b="0">
                <a:solidFill>
                  <a:srgbClr val="27343C"/>
                </a:solidFill>
                <a:latin typeface="Arial"/>
              </a:rPr>
              <a:t>→ streaming linear policy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7824" y="22411944"/>
            <a:ext cx="8083296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5C6A72"/>
                </a:solidFill>
                <a:latin typeface="Arial"/>
              </a:rPr>
              <a:t>Mutate horizon / step size; retain candidates that fill missing roles and replenish online.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1248" y="22942296"/>
            <a:ext cx="8156448" cy="22860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8" y="23253192"/>
            <a:ext cx="81564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40" b="1">
                <a:solidFill>
                  <a:srgbClr val="477F6B"/>
                </a:solidFill>
                <a:latin typeface="Arial"/>
              </a:rPr>
              <a:t>EXPERIMENTAL CONTROLS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7824" y="23637240"/>
            <a:ext cx="8083296" cy="10789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480" b="0">
                <a:solidFill>
                  <a:srgbClr val="27343C"/>
                </a:solidFill>
                <a:latin typeface="Arial"/>
              </a:rPr>
              <a:t>• One-pass online learning; no replay, offline fitting, or recurrent memory.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480" b="0">
                <a:solidFill>
                  <a:srgbClr val="27343C"/>
                </a:solidFill>
                <a:latin typeface="Arial"/>
              </a:rPr>
              <a:t>• Held-out probes are diagnostic only; budgets and seeds are matched within comparisons.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480" b="0">
                <a:solidFill>
                  <a:srgbClr val="27343C"/>
                </a:solidFill>
                <a:latin typeface="Arial"/>
              </a:rPr>
              <a:t>• Environment-specific metrics; n=3/4 summaries are descriptive, not significance tests.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7824" y="24871680"/>
            <a:ext cx="8083296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5C6A72"/>
                </a:solidFill>
                <a:latin typeface="Arial"/>
              </a:rPr>
              <a:t>READOUTS   Decoding → preservation  ·  post-switch → control  ·  recovery → adaptation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1248" y="25466040"/>
            <a:ext cx="81564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40" b="1">
                <a:solidFill>
                  <a:srgbClr val="3E718F"/>
                </a:solidFill>
                <a:latin typeface="Arial"/>
              </a:rPr>
              <a:t>WHY THE SEQUENCE MATTERS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" y="25840944"/>
            <a:ext cx="8156448" cy="1389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570" b="0">
                <a:solidFill>
                  <a:srgbClr val="27343C"/>
                </a:solidFill>
                <a:latin typeface="Arial"/>
              </a:rPr>
              <a:t>RQ1 tests whether feature reshaping generalizes across hidden structures.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570" b="0">
                <a:solidFill>
                  <a:srgbClr val="27343C"/>
                </a:solidFill>
                <a:latin typeface="Arial"/>
              </a:rPr>
              <a:t>RQ2 fixes predictions to isolate controller accessibility. RQ3 asks how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570" b="0">
                <a:solidFill>
                  <a:srgbClr val="27343C"/>
                </a:solidFill>
                <a:latin typeface="Arial"/>
              </a:rPr>
              <a:t>to compose predictions as relevance drifts. Together, the sequence moves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570" b="0">
                <a:solidFill>
                  <a:srgbClr val="27343C"/>
                </a:solidFill>
                <a:latin typeface="Arial"/>
              </a:rPr>
              <a:t>from diagnosis to intervention to adaptive construction.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29216" y="8540496"/>
            <a:ext cx="11027664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40" b="1">
                <a:solidFill>
                  <a:srgbClr val="477F6B"/>
                </a:solidFill>
                <a:latin typeface="Arial"/>
              </a:rPr>
              <a:t>RESULTS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29216" y="8887968"/>
            <a:ext cx="11027664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17324D"/>
                </a:solidFill>
                <a:latin typeface="Arial"/>
              </a:rPr>
              <a:t>Three questions, three bounded answers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729216" y="9473184"/>
            <a:ext cx="11027664" cy="32004"/>
          </a:xfrm>
          <a:prstGeom prst="rect">
            <a:avLst/>
          </a:prstGeom>
          <a:solidFill>
            <a:srgbClr val="477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29216" y="9665208"/>
            <a:ext cx="11027664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39" b="1">
                <a:solidFill>
                  <a:srgbClr val="17324D"/>
                </a:solidFill>
                <a:latin typeface="Arial"/>
              </a:rPr>
              <a:t>RQ1 · Does reshaping predictive features reliably improve control?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29216" y="10168128"/>
            <a:ext cx="11027664" cy="36576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20656" y="10204703"/>
            <a:ext cx="1709928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80" b="1">
                <a:solidFill>
                  <a:srgbClr val="5C6A72"/>
                </a:solidFill>
                <a:latin typeface="Arial"/>
              </a:rPr>
              <a:t>Environment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695176" y="10204703"/>
            <a:ext cx="2898648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80" b="1">
                <a:solidFill>
                  <a:srgbClr val="5C6A72"/>
                </a:solidFill>
                <a:latin typeface="Arial"/>
              </a:rPr>
              <a:t>Within-task evidence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758416" y="10204703"/>
            <a:ext cx="5925312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80" b="1">
                <a:solidFill>
                  <a:srgbClr val="5C6A72"/>
                </a:solidFill>
                <a:latin typeface="Arial"/>
              </a:rPr>
              <a:t>What it rules out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20656" y="10597896"/>
            <a:ext cx="1709928" cy="44805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T-maze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695176" y="10597896"/>
            <a:ext cx="2898648" cy="44805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17324D"/>
                </a:solidFill>
                <a:latin typeface="Arial"/>
              </a:rPr>
              <a:t>non-oracle ≈ 0.50 (chance)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758416" y="10597896"/>
            <a:ext cx="5925312" cy="44805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feature shape alone does not recover memory control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729216" y="11073384"/>
            <a:ext cx="11027664" cy="16459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820656" y="11119104"/>
            <a:ext cx="1709928" cy="44805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Two-loop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695176" y="11119104"/>
            <a:ext cx="2898648" cy="44805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17324D"/>
                </a:solidFill>
                <a:latin typeface="Arial"/>
              </a:rPr>
              <a:t>moment 0.797±0.068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17324D"/>
                </a:solidFill>
                <a:latin typeface="Arial"/>
              </a:rPr>
              <a:t>raw 0.495±0.004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758416" y="11119104"/>
            <a:ext cx="5925312" cy="44805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a positive effect can be environment-specific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729216" y="11594592"/>
            <a:ext cx="11027664" cy="16459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820656" y="11640312"/>
            <a:ext cx="1709928" cy="44805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Hidden velocity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695176" y="11640312"/>
            <a:ext cx="2898648" cy="44805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17324D"/>
                </a:solidFill>
                <a:latin typeface="Arial"/>
              </a:rPr>
              <a:t>raw −0.063±0.018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17324D"/>
                </a:solidFill>
                <a:latin typeface="Arial"/>
              </a:rPr>
              <a:t>highest mean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4758416" y="11640312"/>
            <a:ext cx="5925312" cy="44805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regularization and priors can reduce control utility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747504" y="12252960"/>
            <a:ext cx="45720" cy="585216"/>
          </a:xfrm>
          <a:prstGeom prst="rect">
            <a:avLst/>
          </a:prstGeom>
          <a:solidFill>
            <a:srgbClr val="3E7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930384" y="12234672"/>
            <a:ext cx="1078992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1570" b="0">
                <a:solidFill>
                  <a:srgbClr val="27343C"/>
                </a:solidFill>
                <a:latin typeface="Arial"/>
              </a:rPr>
              <a:t>Answer: no. Effects reverse across hidden structures; feature geometry is diagnostic, not a universal</a:t>
            </a:r>
          </a:p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1570" b="0">
                <a:solidFill>
                  <a:srgbClr val="27343C"/>
                </a:solidFill>
                <a:latin typeface="Arial"/>
              </a:rPr>
              <a:t>selection rule. With n=3/condition, the evidence supports counterexamples—not a general ranking.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29216" y="13075920"/>
            <a:ext cx="11027664" cy="22860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729216" y="13267944"/>
            <a:ext cx="11027664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39" b="1">
                <a:solidFill>
                  <a:srgbClr val="17324D"/>
                </a:solidFill>
                <a:latin typeface="Arial"/>
              </a:rPr>
              <a:t>RQ2 · Is decodable information accessible to online control?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729216" y="13706856"/>
            <a:ext cx="1102766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10" b="1">
                <a:solidFill>
                  <a:srgbClr val="94652F"/>
                </a:solidFill>
                <a:latin typeface="Arial"/>
              </a:rPr>
              <a:t>The past cue is perfectly decodable at the junction (1.00); same gₜ and learner, only f changes.</a:t>
            </a:r>
          </a:p>
        </p:txBody>
      </p:sp>
      <p:pic>
        <p:nvPicPr>
          <p:cNvPr id="98" name="Paired adapter result" descr="trace_only_resc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14173200"/>
            <a:ext cx="10881360" cy="6377076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9802368" y="20555712"/>
            <a:ext cx="1088136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C6A72"/>
                </a:solidFill>
                <a:latin typeface="Arial"/>
              </a:rPr>
              <a:t>Identity 0.5165  ·  RFF 0.5380  ·  Tile 0.9780  ·  Oracle / direct cue 0.9835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02368" y="20912328"/>
            <a:ext cx="1088136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477F6B"/>
                </a:solidFill>
                <a:latin typeface="Arial"/>
              </a:rPr>
              <a:t>Tile − identity = +0.4615 ± 0.0144 SEM  ·  10/10 paired improvements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47504" y="21378672"/>
            <a:ext cx="45720" cy="676656"/>
          </a:xfrm>
          <a:prstGeom prst="rect">
            <a:avLst/>
          </a:prstGeom>
          <a:solidFill>
            <a:srgbClr val="477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30384" y="21305520"/>
            <a:ext cx="10789920" cy="8412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570" b="0">
                <a:solidFill>
                  <a:srgbClr val="27343C"/>
                </a:solidFill>
                <a:latin typeface="Arial"/>
              </a:rPr>
              <a:t>Answer: not necessarily. Tile coding adds no cue information; local, sparse features expose the retained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570" b="0">
                <a:solidFill>
                  <a:srgbClr val="27343C"/>
                </a:solidFill>
                <a:latin typeface="Arial"/>
              </a:rPr>
              <a:t>cue to the fixed linear learner, moving control near oracle—an accessibility, not prediction, gain.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729216" y="22293072"/>
            <a:ext cx="11027664" cy="22860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729216" y="22475952"/>
            <a:ext cx="11027664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39" b="1">
                <a:solidFill>
                  <a:srgbClr val="17324D"/>
                </a:solidFill>
                <a:latin typeface="Arial"/>
              </a:rPr>
              <a:t>RQ3 · What bank structure converts predictions into control under drift?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29216" y="22924008"/>
            <a:ext cx="11027664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60" b="0">
                <a:solidFill>
                  <a:srgbClr val="5C6A72"/>
                </a:solidFill>
                <a:latin typeface="Arial"/>
              </a:rPr>
              <a:t>Raw 0.5073  ·  Cue GVF 0.5246  ·  four-seed means; uncertainty not supplied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729216" y="23317200"/>
            <a:ext cx="11027664" cy="36576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820656" y="23353776"/>
            <a:ext cx="2944368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80" b="1">
                <a:solidFill>
                  <a:srgbClr val="5C6A72"/>
                </a:solidFill>
                <a:latin typeface="Arial"/>
              </a:rPr>
              <a:t>Bank variant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3848588" y="23353776"/>
            <a:ext cx="2670048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80" b="1">
                <a:solidFill>
                  <a:srgbClr val="5C6A72"/>
                </a:solidFill>
                <a:latin typeface="Arial"/>
              </a:rPr>
              <a:t>Cue decodability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602200" y="23353776"/>
            <a:ext cx="3081527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80" b="1">
                <a:solidFill>
                  <a:srgbClr val="5C6A72"/>
                </a:solidFill>
                <a:latin typeface="Arial"/>
              </a:rPr>
              <a:t>Post-switch control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820656" y="23719536"/>
            <a:ext cx="294436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k=2 full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848588" y="23719536"/>
            <a:ext cx="2670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0.6483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7602200" y="23719536"/>
            <a:ext cx="3081527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0.4950</a:t>
            </a:r>
          </a:p>
        </p:txBody>
      </p:sp>
      <p:sp>
        <p:nvSpPr>
          <p:cNvPr id="113" name="Highlighted k=3 row 1"/>
          <p:cNvSpPr/>
          <p:nvPr/>
        </p:nvSpPr>
        <p:spPr>
          <a:xfrm>
            <a:off x="9729216" y="24048720"/>
            <a:ext cx="11027664" cy="356616"/>
          </a:xfrm>
          <a:prstGeom prst="rect">
            <a:avLst/>
          </a:prstGeom>
          <a:solidFill>
            <a:srgbClr val="EDF4F1"/>
          </a:solidFill>
          <a:ln>
            <a:solidFill>
              <a:srgbClr val="E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820656" y="24076152"/>
            <a:ext cx="294436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477F6B"/>
                </a:solidFill>
                <a:latin typeface="Arial"/>
              </a:rPr>
              <a:t>k=3 full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3848588" y="24076152"/>
            <a:ext cx="2670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477F6B"/>
                </a:solidFill>
                <a:latin typeface="Arial"/>
              </a:rPr>
              <a:t>0.7294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7602200" y="24076152"/>
            <a:ext cx="3081527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477F6B"/>
                </a:solidFill>
                <a:latin typeface="Arial"/>
              </a:rPr>
              <a:t>0.5565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29216" y="24405336"/>
            <a:ext cx="11027664" cy="14630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820656" y="24432768"/>
            <a:ext cx="294436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k=4 full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848588" y="24432768"/>
            <a:ext cx="2670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0.7386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7602200" y="24432768"/>
            <a:ext cx="3081527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0.5408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729216" y="24761952"/>
            <a:ext cx="11027664" cy="14630"/>
          </a:xfrm>
          <a:prstGeom prst="rect">
            <a:avLst/>
          </a:prstGeom>
          <a:solidFill>
            <a:srgbClr val="E8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820656" y="24789384"/>
            <a:ext cx="294436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k=3, no diversity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848588" y="24789384"/>
            <a:ext cx="2670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0.6951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7602200" y="24789384"/>
            <a:ext cx="3081527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7343C"/>
                </a:solidFill>
                <a:latin typeface="Arial"/>
              </a:rPr>
              <a:t>0.5196</a:t>
            </a:r>
          </a:p>
        </p:txBody>
      </p:sp>
      <p:sp>
        <p:nvSpPr>
          <p:cNvPr id="125" name="Highlighted k=3 row 4"/>
          <p:cNvSpPr/>
          <p:nvPr/>
        </p:nvSpPr>
        <p:spPr>
          <a:xfrm>
            <a:off x="9729216" y="25118568"/>
            <a:ext cx="11027664" cy="356616"/>
          </a:xfrm>
          <a:prstGeom prst="rect">
            <a:avLst/>
          </a:prstGeom>
          <a:solidFill>
            <a:srgbClr val="EDF4F1"/>
          </a:solidFill>
          <a:ln>
            <a:solidFill>
              <a:srgbClr val="E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820656" y="25146000"/>
            <a:ext cx="294436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477F6B"/>
                </a:solidFill>
                <a:latin typeface="Arial"/>
              </a:rPr>
              <a:t>k=3, no novelty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3848588" y="25146000"/>
            <a:ext cx="2670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477F6B"/>
                </a:solidFill>
                <a:latin typeface="Arial"/>
              </a:rPr>
              <a:t>0.7294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7602200" y="25146000"/>
            <a:ext cx="3081527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477F6B"/>
                </a:solidFill>
                <a:latin typeface="Arial"/>
              </a:rPr>
              <a:t>0.5565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820656" y="25557480"/>
            <a:ext cx="10844784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480" b="0">
                <a:solidFill>
                  <a:srgbClr val="27343C"/>
                </a:solidFill>
                <a:latin typeface="Arial"/>
              </a:rPr>
              <a:t>• Remove diversity: −3.69 percentage points (0.5565 → 0.5196).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480" b="0">
                <a:solidFill>
                  <a:srgbClr val="27343C"/>
                </a:solidFill>
                <a:latin typeface="Arial"/>
              </a:rPr>
              <a:t>• k=4 decodes more (0.7386 &gt; 0.7294) but controls worse (0.5408 &lt; 0.5565).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480" b="0">
                <a:solidFill>
                  <a:srgbClr val="27343C"/>
                </a:solidFill>
                <a:latin typeface="Arial"/>
              </a:rPr>
              <a:t>• Remove novelty: no observed mean change (0.5565).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747504" y="26407872"/>
            <a:ext cx="45720" cy="676656"/>
          </a:xfrm>
          <a:prstGeom prst="rect">
            <a:avLst/>
          </a:prstGeom>
          <a:solidFill>
            <a:srgbClr val="477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930384" y="26325576"/>
            <a:ext cx="10789920" cy="8778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570" b="0">
                <a:solidFill>
                  <a:srgbClr val="27343C"/>
                </a:solidFill>
                <a:latin typeface="Arial"/>
              </a:rPr>
              <a:t>Answer: supplied means favor a compact, diversity-aware bank over increasing size or novelty alone.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570" b="0">
                <a:solidFill>
                  <a:srgbClr val="27343C"/>
                </a:solidFill>
                <a:latin typeface="Arial"/>
              </a:rPr>
              <a:t>The k=4 counterexample shows that more decodable predictions can still add redundancy or interference.</a:t>
            </a:r>
          </a:p>
        </p:txBody>
      </p:sp>
      <p:sp>
        <p:nvSpPr>
          <p:cNvPr id="132" name="Conclusion rule"/>
          <p:cNvSpPr/>
          <p:nvPr/>
        </p:nvSpPr>
        <p:spPr>
          <a:xfrm>
            <a:off x="841248" y="27386280"/>
            <a:ext cx="19915632" cy="5029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41248" y="27614880"/>
            <a:ext cx="2926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40" b="1">
                <a:solidFill>
                  <a:srgbClr val="3E718F"/>
                </a:solidFill>
                <a:latin typeface="Arial"/>
              </a:rPr>
              <a:t>CONCLUSION</a:t>
            </a:r>
          </a:p>
        </p:txBody>
      </p:sp>
      <p:sp>
        <p:nvSpPr>
          <p:cNvPr id="134" name="Conclusion statement"/>
          <p:cNvSpPr txBox="1"/>
          <p:nvPr/>
        </p:nvSpPr>
        <p:spPr>
          <a:xfrm>
            <a:off x="841248" y="27980640"/>
            <a:ext cx="19915632" cy="7132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96000"/>
              </a:lnSpc>
              <a:spcAft>
                <a:spcPts val="0"/>
              </a:spcAft>
            </a:pPr>
            <a:r>
              <a:rPr sz="2200" b="1">
                <a:solidFill>
                  <a:srgbClr val="17324D"/>
                </a:solidFill>
                <a:latin typeface="Arial"/>
              </a:rPr>
              <a:t>In these streaming POMDPs, usefulness depends on the representation–learner interface—not on the predictive feature alone.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41248" y="28730448"/>
            <a:ext cx="19915632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20" b="0">
                <a:solidFill>
                  <a:srgbClr val="5C6A72"/>
                </a:solidFill>
                <a:latin typeface="Arial"/>
              </a:rPr>
              <a:t>Same cue information, better access: tile coding moves control 0.5165 → 0.9780. More decodability, worse control: k=4 underperforms k=3—two counterexamples to selection by decoding alone.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1248" y="29215080"/>
            <a:ext cx="19915632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5C6A72"/>
                </a:solidFill>
                <a:latin typeface="Arial"/>
              </a:rPr>
              <a:t>Scope: controlled POMDPs · linear control · hand-structured GVF roles · n=3/4/10 by study.  Next: jointly adapt bank composition and controller coupling.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1248" y="29791152"/>
            <a:ext cx="19915632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41248" y="30595824"/>
            <a:ext cx="61722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80" b="1">
                <a:solidFill>
                  <a:srgbClr val="FFFFFF"/>
                </a:solidFill>
                <a:latin typeface="Arial"/>
              </a:rPr>
              <a:t>REFERENCE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41248" y="30925008"/>
            <a:ext cx="61722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40" b="0">
                <a:solidFill>
                  <a:srgbClr val="FFFFFF"/>
                </a:solidFill>
                <a:latin typeface="Arial"/>
              </a:rPr>
              <a:t>Sutton et al. · The Alberta Plan for AI Research · 2022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196328" y="30595824"/>
            <a:ext cx="722376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80" b="1">
                <a:solidFill>
                  <a:srgbClr val="FFFFFF"/>
                </a:solidFill>
                <a:latin typeface="Arial"/>
              </a:rPr>
              <a:t>REPRODUCIBILITY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196328" y="30925008"/>
            <a:ext cx="722376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40" b="0">
                <a:solidFill>
                  <a:srgbClr val="FFFFFF"/>
                </a:solidFill>
                <a:latin typeface="Arial"/>
              </a:rPr>
              <a:t>Streaming · replay-free · CPU-scale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40" b="0">
                <a:solidFill>
                  <a:srgbClr val="FFFFFF"/>
                </a:solidFill>
                <a:latin typeface="Arial"/>
              </a:rPr>
              <a:t>Held-out probes are diagnostic only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4602968" y="30595824"/>
            <a:ext cx="6153912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80" b="1">
                <a:solidFill>
                  <a:srgbClr val="FFFFFF"/>
                </a:solidFill>
                <a:latin typeface="Arial"/>
              </a:rPr>
              <a:t>SOURCE VERSIONS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602968" y="30925008"/>
            <a:ext cx="6153912" cy="8595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1340" b="0">
                <a:solidFill>
                  <a:srgbClr val="FFFFFF"/>
                </a:solidFill>
                <a:latin typeface="Arial"/>
              </a:rPr>
              <a:t>Geometry 2940182f · Adapters a88813c</a:t>
            </a:r>
          </a:p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1340" b="0">
                <a:solidFill>
                  <a:srgbClr val="FFFFFF"/>
                </a:solidFill>
                <a:latin typeface="Arial"/>
              </a:rPr>
              <a:t>GVF bank: supplied 4-seed summaries</a:t>
            </a:r>
          </a:p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1340" b="0">
                <a:solidFill>
                  <a:srgbClr val="FFFFFF"/>
                </a:solidFill>
                <a:latin typeface="Arial"/>
              </a:rPr>
              <a:t>Commands/results accompany the course package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WPS 演示</Application>
  <PresentationFormat>Converted Presentation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方正雅意黑 GB18030L2</vt:lpstr>
      <vt:lpstr>宋体</vt:lpstr>
      <vt:lpstr>Arial Unicode MS</vt:lpstr>
      <vt:lpstr>Aptos Display</vt:lpstr>
      <vt:lpstr>Helvetica Neue</vt:lpstr>
      <vt:lpstr>汉仪书宋二KW</vt:lpstr>
      <vt:lpstr>Aptos</vt:lpstr>
      <vt:lpstr>等线</vt:lpstr>
      <vt:lpstr>汉仪中等线KW</vt:lpstr>
      <vt:lpstr>Calibri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Useful Predictive Representations for Streaming RL under Partial Observability and Non-Stationarity</dc:title>
  <dc:creator>Mingzhu Li; Xinwei Song; Yuqi Wei; Peng Yu</dc:creator>
  <cp:lastModifiedBy>yupeng</cp:lastModifiedBy>
  <cp:revision>5</cp:revision>
  <dcterms:created xsi:type="dcterms:W3CDTF">2026-07-21T07:18:51Z</dcterms:created>
  <dcterms:modified xsi:type="dcterms:W3CDTF">2026-07-21T07:18:51Z</dcterms:modified>
  <dc:subject>2026 RL course project poster</dc:subject>
  <cp:keywords>streaming reinforcement learning, partial observability, GVF, predictive state, control accessibility, non-stationarity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2052-12.1.26035.26035</vt:lpwstr>
  </property>
  <property fmtid="{D5CDD505-2E9C-101B-9397-08002B2CF9AE}" pid="3" name="ICV">
    <vt:lpwstr>A8180EEF81BE6DD8801A5F6A9F2BD406_42</vt:lpwstr>
  </property>
</Properties>
</file>